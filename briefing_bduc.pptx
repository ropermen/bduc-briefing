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65D"/>
            </a:gs>
            <a:gs pos="100000">
              <a:srgbClr val="3182C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5486400" cy="5486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00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B6CB0"/>
                </a:solidFill>
              </a:defRPr>
            </a:pPr>
            <a:r>
              <a:t>PLATAFORMA DE GESTAO MUNICIPAL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Base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3B3ED"/>
                </a:solidFill>
                <a:latin typeface="Calibri"/>
              </a:defRPr>
            </a:pPr>
            <a:r>
              <a:t>Unica do Cidadao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2E1F5"/>
                </a:solidFill>
                <a:latin typeface="Calibri"/>
              </a:defRPr>
            </a:pPr>
            <a:r>
              <a:t>Centralize todas as informacoes dos cidadaos em uma unica plataforma inteligente. Mais eficiencia, menos retrabalho, melhor atendimento.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B3ED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C8E1"/>
                </a:solidFill>
                <a:latin typeface="Calibri"/>
              </a:defRPr>
            </a:pPr>
            <a:r>
              <a:t>Digital e em Nuvem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B3ED"/>
                </a:solidFill>
                <a:latin typeface="Calibri"/>
              </a:defRPr>
            </a:pPr>
            <a:r>
              <a:t>360°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5806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C8E1"/>
                </a:solidFill>
                <a:latin typeface="Calibri"/>
              </a:defRPr>
            </a:pPr>
            <a:r>
              <a:t>Visao do Cidadao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B3ED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806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C8E1"/>
                </a:solidFill>
                <a:latin typeface="Calibri"/>
              </a:defRPr>
            </a:pPr>
            <a:r>
              <a:t>Disponibilidade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B3ED"/>
                </a:solidFill>
                <a:latin typeface="Calibri"/>
              </a:defRPr>
            </a:pPr>
            <a:r>
              <a:t>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5806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C8E1"/>
                </a:solidFill>
                <a:latin typeface="Calibri"/>
              </a:defRPr>
            </a:pPr>
            <a:r>
              <a:t>Integracao Total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645920"/>
            <a:ext cx="41148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2286000"/>
            <a:ext cx="1737360" cy="1005840"/>
          </a:xfrm>
          <a:prstGeom prst="round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E6FF"/>
                </a:solidFill>
              </a:defRPr>
            </a:pPr>
            <a:r>
              <a:t>Cidadaos Cadastrados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248.591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2286000"/>
            <a:ext cx="1737360" cy="1005840"/>
          </a:xfrm>
          <a:prstGeom prst="round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F5F0"/>
                </a:solidFill>
              </a:defRPr>
            </a:pPr>
            <a:r>
              <a:t>Atendimentos Hoje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1.342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8E6FF"/>
                </a:solidFill>
                <a:latin typeface="Calibri"/>
              </a:defRPr>
            </a:pPr>
            <a:r>
              <a:t>Painel de Gestao do Cidadao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365D"/>
                </a:solidFill>
                <a:latin typeface="Calibri"/>
              </a:defRPr>
            </a:pPr>
            <a:r>
              <a:t>Por que adotar a BDUC?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9144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8096"/>
                </a:solidFill>
                <a:latin typeface="Calibri"/>
              </a:defRPr>
            </a:pPr>
            <a:r>
              <a:t>Transforme a gestao municipal com uma plataforma que coloca o cidadao no centro de todas as decisoes.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20116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73152" cy="20116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0" y="1874520"/>
            <a:ext cx="731520" cy="73152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Cadastro Unico e Centralizado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8096"/>
                </a:solidFill>
                <a:latin typeface="Calibri"/>
              </a:defRPr>
            </a:pPr>
            <a:r>
              <a:t>Todas as informacoes do cidadao em um so lugar, eliminando duplicidades e inconsistencias.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74720" cy="20116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73152" cy="201168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0" y="1874520"/>
            <a:ext cx="731520" cy="731520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Eliminacao de Retrabalho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8096"/>
                </a:solidFill>
                <a:latin typeface="Calibri"/>
              </a:defRPr>
            </a:pPr>
            <a:r>
              <a:t>O cidadao fornece seus dados uma unica vez. Todos os departamentos acessam a mesma 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474720" cy="20116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73152" cy="201168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1874520"/>
            <a:ext cx="731520" cy="731520"/>
          </a:xfrm>
          <a:prstGeom prst="ellipse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Atendimento Humanizado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0175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8096"/>
                </a:solidFill>
                <a:latin typeface="Calibri"/>
              </a:defRPr>
            </a:pPr>
            <a:r>
              <a:t>Com o historico completo, o atendente oferece um servico mais agil e personalizado.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14800"/>
            <a:ext cx="3474720" cy="20116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73152" cy="2011680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20240" y="4343400"/>
            <a:ext cx="731520" cy="73152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Agilidade nos Processos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864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8096"/>
                </a:solidFill>
                <a:latin typeface="Calibri"/>
              </a:defRPr>
            </a:pPr>
            <a:r>
              <a:t>Reducao drastica no tempo de atendimento com dados pre-cadastrados e validados.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114800"/>
            <a:ext cx="3474720" cy="20116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4114800"/>
            <a:ext cx="73152" cy="201168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60720" y="4343400"/>
            <a:ext cx="731520" cy="731520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5166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Gestao Baseada em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4864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8096"/>
                </a:solidFill>
                <a:latin typeface="Calibri"/>
              </a:defRPr>
            </a:pPr>
            <a:r>
              <a:t>Relatorios e indicadores em tempo real para embasar politicas publicas com evidencias.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114800"/>
            <a:ext cx="3474720" cy="20116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4114800"/>
            <a:ext cx="73152" cy="20116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01200" y="4343400"/>
            <a:ext cx="731520" cy="731520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5166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Seguranca e LGPD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4864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8096"/>
                </a:solidFill>
                <a:latin typeface="Calibri"/>
              </a:defRPr>
            </a:pPr>
            <a:r>
              <a:t>Controle de acesso, auditoria, criptografia de dados e total conformidade com a LGPD.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365D"/>
                </a:solidFill>
                <a:latin typeface="Calibri"/>
              </a:defRPr>
            </a:pPr>
            <a: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8229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8096"/>
                </a:solidFill>
                <a:latin typeface="Calibri"/>
              </a:defRPr>
            </a:pPr>
            <a:r>
              <a:t>Uma plataforma central que conecta todos os setores da administracao municipal.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554480"/>
            <a:ext cx="2743200" cy="7315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Cidadao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6459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B6CB0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554480"/>
            <a:ext cx="2743200" cy="7315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Cadastro Unico</a:t>
            </a:r>
            <a:br/>
            <a:r>
              <a:t>(BDUC)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B6CB0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554480"/>
            <a:ext cx="2743200" cy="7315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Saude / Educacao /</a:t>
            </a:r>
            <a:br/>
            <a:r>
              <a:t>Social / Fazenda</a:t>
            </a:r>
          </a:p>
        </p:txBody>
      </p:sp>
      <p:sp>
        <p:nvSpPr>
          <p:cNvPr id="9" name="Oval 8"/>
          <p:cNvSpPr/>
          <p:nvPr/>
        </p:nvSpPr>
        <p:spPr>
          <a:xfrm>
            <a:off x="5272430" y="3566160"/>
            <a:ext cx="1645920" cy="164592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BDUC</a:t>
            </a:r>
          </a:p>
          <a:p>
            <a:pPr algn="ctr">
              <a:defRPr sz="1000">
                <a:solidFill>
                  <a:srgbClr val="C8DCFF"/>
                </a:solidFill>
              </a:defRPr>
            </a:pPr>
            <a:r>
              <a:t>Base Central</a:t>
            </a:r>
          </a:p>
        </p:txBody>
      </p:sp>
      <p:sp>
        <p:nvSpPr>
          <p:cNvPr id="10" name="Oval 9"/>
          <p:cNvSpPr/>
          <p:nvPr/>
        </p:nvSpPr>
        <p:spPr>
          <a:xfrm>
            <a:off x="5592470" y="1600200"/>
            <a:ext cx="1005840" cy="1005840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Saude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095390" y="2103120"/>
            <a:ext cx="0" cy="2286000"/>
          </a:xfrm>
          <a:prstGeom prst="line">
            <a:avLst/>
          </a:prstGeom>
          <a:ln w="19050">
            <a:solidFill>
              <a:srgbClr val="48BB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572204" y="2743200"/>
            <a:ext cx="1005840" cy="1005840"/>
          </a:xfrm>
          <a:prstGeom prst="ellipse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Educacao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095390" y="3246120"/>
            <a:ext cx="1979734" cy="1143000"/>
          </a:xfrm>
          <a:prstGeom prst="line">
            <a:avLst/>
          </a:prstGeom>
          <a:ln w="19050">
            <a:solidFill>
              <a:srgbClr val="ED893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72204" y="5029200"/>
            <a:ext cx="1005840" cy="100584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Assistencia</a:t>
            </a:r>
            <a:br/>
            <a:r>
              <a:t>Social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390" y="4389120"/>
            <a:ext cx="1979734" cy="1143000"/>
          </a:xfrm>
          <a:prstGeom prst="line">
            <a:avLst/>
          </a:prstGeom>
          <a:ln w="19050">
            <a:solidFill>
              <a:srgbClr val="9F7AE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592470" y="6172200"/>
            <a:ext cx="1005840" cy="1005840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Fazenda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390" y="4389120"/>
            <a:ext cx="0" cy="2286000"/>
          </a:xfrm>
          <a:prstGeom prst="line">
            <a:avLst/>
          </a:prstGeom>
          <a:ln w="19050">
            <a:solidFill>
              <a:srgbClr val="E53E3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612735" y="5029200"/>
            <a:ext cx="1005840" cy="1005840"/>
          </a:xfrm>
          <a:prstGeom prst="ellipse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Habitacao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115655" y="4389120"/>
            <a:ext cx="1979735" cy="1143000"/>
          </a:xfrm>
          <a:prstGeom prst="line">
            <a:avLst/>
          </a:prstGeom>
          <a:ln w="19050">
            <a:solidFill>
              <a:srgbClr val="38B2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612735" y="2743200"/>
            <a:ext cx="1005840" cy="1005840"/>
          </a:xfrm>
          <a:prstGeom prst="ellipse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Trabalho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4115655" y="3246120"/>
            <a:ext cx="1979735" cy="1143000"/>
          </a:xfrm>
          <a:prstGeom prst="line">
            <a:avLst/>
          </a:prstGeom>
          <a:ln w="19050">
            <a:solidFill>
              <a:srgbClr val="DD6B2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65D"/>
            </a:gs>
            <a:gs pos="100000">
              <a:srgbClr val="2C528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B3ED"/>
                </a:solidFill>
              </a:defRPr>
            </a:pPr>
            <a:r>
              <a:t>INTEROPERABILIDADE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API para Integracao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7EB"/>
                </a:solidFill>
                <a:latin typeface="Calibri"/>
              </a:defRPr>
            </a:pPr>
            <a:r>
              <a:t>A BDUC disponibiliza uma API robusta que possibilita a interoperabilidade entre todos os sistemas da prefeitura, eliminando retrabalho e evitando a necessidade de lancamento da mesma informacao em sistemas diferentes. A API permite tambem a definicao de regras unificadas de cadastro do cidadao.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Integracao em Tempo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186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C8E1"/>
                </a:solidFill>
                <a:latin typeface="Calibri"/>
              </a:defRPr>
            </a:pPr>
            <a:r>
              <a:t>Sincronize dados entre sistemas automaticamente.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Regras Unificadas de Cadastro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330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C8E1"/>
                </a:solidFill>
                <a:latin typeface="Calibri"/>
              </a:defRPr>
            </a:pPr>
            <a:r>
              <a:t>Padroes centrais de validacao em todos os sistemas.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Zero Retrabalho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474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C8E1"/>
                </a:solidFill>
                <a:latin typeface="Calibri"/>
              </a:defRPr>
            </a:pPr>
            <a:r>
              <a:t>Lance a informacao uma unica vez para todos.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669280"/>
            <a:ext cx="457200" cy="457200"/>
          </a:xfrm>
          <a:prstGeom prst="ellipse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9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Documentacao Completa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9618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C8E1"/>
                </a:solidFill>
                <a:latin typeface="Calibri"/>
              </a:defRPr>
            </a:pPr>
            <a:r>
              <a:t>API RESTful com documentacao detalhada.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731520"/>
            <a:ext cx="5303520" cy="5486400"/>
          </a:xfrm>
          <a:prstGeom prst="round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731520"/>
            <a:ext cx="5303520" cy="457200"/>
          </a:xfrm>
          <a:prstGeom prst="round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0" y="850392"/>
            <a:ext cx="137160" cy="137160"/>
          </a:xfrm>
          <a:prstGeom prst="ellipse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12280" y="850392"/>
            <a:ext cx="137160" cy="137160"/>
          </a:xfrm>
          <a:prstGeom prst="ellipse">
            <a:avLst/>
          </a:prstGeom>
          <a:solidFill>
            <a:srgbClr val="F6E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40880" y="850392"/>
            <a:ext cx="137160" cy="137160"/>
          </a:xfrm>
          <a:prstGeom prst="ellipse">
            <a:avLst/>
          </a:prstGeom>
          <a:solidFill>
            <a:srgbClr val="68D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822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69696"/>
                </a:solidFill>
                <a:latin typeface="Consolas"/>
              </a:defRPr>
            </a:pPr>
            <a:r>
              <a:t>api.bduc.gov.br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8D391"/>
                </a:solidFill>
                <a:latin typeface="Consolas"/>
              </a:defRPr>
            </a:pPr>
            <a:r>
              <a:t>GET  /api/v1/cidadao/{cpf}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9568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Consolas"/>
              </a:defRPr>
            </a:pPr>
            <a:r>
              <a:t>Resposta: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2494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6E05E"/>
                </a:solidFill>
                <a:latin typeface="Consolas"/>
              </a:defRPr>
            </a:pPr>
            <a:r>
              <a:t>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5420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B3ED"/>
                </a:solidFill>
                <a:latin typeface="Consolas"/>
              </a:defRPr>
            </a:pPr>
            <a:r>
              <a:t>  "nome": "Joao Silva",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834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B3ED"/>
                </a:solidFill>
                <a:latin typeface="Consolas"/>
              </a:defRPr>
            </a:pPr>
            <a:r>
              <a:t>  "cpf": "123.456.789-00",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1272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B3ED"/>
                </a:solidFill>
                <a:latin typeface="Consolas"/>
              </a:defRPr>
            </a:pPr>
            <a:r>
              <a:t>  "endereco": "Rua ...",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4198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B3ED"/>
                </a:solidFill>
                <a:latin typeface="Consolas"/>
              </a:defRPr>
            </a:pPr>
            <a:r>
              <a:t>  "saude": { ... },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71246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B3ED"/>
                </a:solidFill>
                <a:latin typeface="Consolas"/>
              </a:defRPr>
            </a:pPr>
            <a:r>
              <a:t>  "educacao": { ... },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0050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B3ED"/>
                </a:solidFill>
                <a:latin typeface="Consolas"/>
              </a:defRPr>
            </a:pPr>
            <a:r>
              <a:t>  "social": { ... 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297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6E05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88289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8D391"/>
                </a:solidFill>
                <a:latin typeface="Consolas"/>
              </a:defRPr>
            </a:pPr>
            <a:r>
              <a:t>POST  /api/v1/cidadao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17550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C8181"/>
                </a:solidFill>
                <a:latin typeface="Consolas"/>
              </a:defRPr>
            </a:pPr>
            <a:r>
              <a:t>PUT   /api/v1/cidadao/{cpf}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4681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6E05E"/>
                </a:solidFill>
                <a:latin typeface="Consolas"/>
              </a:defRPr>
            </a:pPr>
            <a:r>
              <a:t>PATCH /api/v1/cidadao/{cpf}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365D"/>
                </a:solidFill>
                <a:latin typeface="Calibri"/>
              </a:defRPr>
            </a:pPr>
            <a:r>
              <a:t>Funcionalidades Detalhadas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8229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18096"/>
                </a:solidFill>
                <a:latin typeface="Calibri"/>
              </a:defRPr>
            </a:pPr>
            <a:r>
              <a:t>Todos os recursos que tornam a BDUC a solucao completa para gestao municipal.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66160" cy="10972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411480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72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  <a:latin typeface="Calibri"/>
              </a:defRPr>
            </a:pPr>
            <a:r>
              <a:t>Cadastro Centralizado do Cidadao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Calibri"/>
              </a:defRPr>
            </a:pPr>
            <a:r>
              <a:t>Registro unificado com dados biograficos, biometricos e documentais.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10972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411480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572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  <a:latin typeface="Calibri"/>
              </a:defRPr>
            </a:pPr>
            <a:r>
              <a:t>Historico Familiar Completo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Calibri"/>
              </a:defRPr>
            </a:pPr>
            <a:r>
              <a:t>Composicao familiar, vinculos e dependentes para politicas sociais.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566160" cy="10972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75320" y="1600200"/>
            <a:ext cx="411480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572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  <a:latin typeface="Calibri"/>
              </a:defRPr>
            </a:pPr>
            <a:r>
              <a:t>Modulo de Saude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Calibri"/>
              </a:defRPr>
            </a:pPr>
            <a:r>
              <a:t>Historico de atendimentos em UBS/hospitais e cartao SUS vinculado.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88920"/>
            <a:ext cx="3566160" cy="10972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926080"/>
            <a:ext cx="411480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8986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  <a:latin typeface="Calibri"/>
              </a:defRPr>
            </a:pPr>
            <a:r>
              <a:t>Modulo de Educacao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46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Calibri"/>
              </a:defRPr>
            </a:pPr>
            <a:r>
              <a:t>Percurso educacional, matriculas e frequencia escolar integrados.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788920"/>
            <a:ext cx="3566160" cy="10972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34840" y="2926080"/>
            <a:ext cx="411480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8986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  <a:latin typeface="Calibri"/>
              </a:defRPr>
            </a:pPr>
            <a:r>
              <a:t>Assistencia Social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246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Calibri"/>
              </a:defRPr>
            </a:pPr>
            <a:r>
              <a:t>Programas sociais, beneficios e acompanhamento CRAS/CREAS.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788920"/>
            <a:ext cx="3566160" cy="10972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75320" y="2926080"/>
            <a:ext cx="411480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8986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  <a:latin typeface="Calibri"/>
              </a:defRPr>
            </a:pPr>
            <a:r>
              <a:t>Situacao Domiciliar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246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Calibri"/>
              </a:defRPr>
            </a:pPr>
            <a:r>
              <a:t>Moradia, geolocalizacao e historico de enderecos.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14800"/>
            <a:ext cx="3566160" cy="10972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4251960"/>
            <a:ext cx="411480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224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  <a:latin typeface="Calibri"/>
              </a:defRPr>
            </a:pPr>
            <a:r>
              <a:t>Mercado de Trabalho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572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Calibri"/>
              </a:defRPr>
            </a:pPr>
            <a:r>
              <a:t>Trajetoria profissional e integracao com programas de emprego.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4114800"/>
            <a:ext cx="3566160" cy="10972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434840" y="4251960"/>
            <a:ext cx="411480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224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  <a:latin typeface="Calibri"/>
              </a:defRPr>
            </a:pPr>
            <a:r>
              <a:t>Login Unico (SSO)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572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Calibri"/>
              </a:defRPr>
            </a:pPr>
            <a:r>
              <a:t>Acesso unificado com integracao Gov.br e autenticacao multifator.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114800"/>
            <a:ext cx="3566160" cy="10972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75320" y="4251960"/>
            <a:ext cx="411480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4224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  <a:latin typeface="Calibri"/>
              </a:defRPr>
            </a:pPr>
            <a:r>
              <a:t>Controle de Acesso por Perfil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572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Calibri"/>
              </a:defRPr>
            </a:pPr>
            <a:r>
              <a:t>Permissoes granulares por secretaria, departamento e funcao.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440679"/>
            <a:ext cx="3566160" cy="10972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5577839"/>
            <a:ext cx="411480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55504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  <a:latin typeface="Calibri"/>
              </a:defRPr>
            </a:pPr>
            <a:r>
              <a:t>Relatorios e Dashboards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8978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Calibri"/>
              </a:defRPr>
            </a:pPr>
            <a:r>
              <a:t>Paineis gerenciais com indicadores em tempo real.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5440679"/>
            <a:ext cx="3566160" cy="10972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434840" y="5577839"/>
            <a:ext cx="411480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55504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  <a:latin typeface="Calibri"/>
              </a:defRPr>
            </a:pPr>
            <a:r>
              <a:t>Auditoria e Rastreabilidade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58978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Calibri"/>
              </a:defRPr>
            </a:pPr>
            <a:r>
              <a:t>Registro de todas as operacoes realizadas no sistema.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5440679"/>
            <a:ext cx="3566160" cy="109728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275320" y="5577839"/>
            <a:ext cx="411480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55504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  <a:latin typeface="Calibri"/>
              </a:defRPr>
            </a:pPr>
            <a:r>
              <a:t>Conformidade com a LGPD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58978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Calibri"/>
              </a:defRPr>
            </a:pPr>
            <a:r>
              <a:t>Gestao de consentimento, anonimizacao e privacidade.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B6CB0"/>
            </a:gs>
            <a:gs pos="100000">
              <a:srgbClr val="3182C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Modernize a Gestao</a:t>
            </a:r>
            <a:br/>
            <a:r>
              <a:t>do seu Municipio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2004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CEBFF"/>
                </a:solidFill>
                <a:latin typeface="Calibri"/>
              </a:defRPr>
            </a:pPr>
            <a:r>
              <a:t>A BDUC e a plataforma que sua prefeitura precisa para oferecer servicos publicos mais eficientes, integrados e centrados no cidadao.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4389120"/>
            <a:ext cx="39319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B6CB0"/>
                </a:solidFill>
              </a:defRPr>
            </a:pPr>
            <a:r>
              <a:t>Solicite uma Demonstracao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DCF5"/>
                </a:solidFill>
                <a:latin typeface="Calibri"/>
              </a:defRPr>
            </a:pPr>
            <a:r>
              <a:t>BDUC - Base de Dados Unica do Cidadao  |  Plataforma de Gestao Municipal Inteligente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